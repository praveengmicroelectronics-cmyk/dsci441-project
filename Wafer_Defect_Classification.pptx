
<file path=[Content_Types].xml><?xml version="1.0" encoding="utf-8"?>
<Types xmlns="http://schemas.openxmlformats.org/package/2006/content-types"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DC1F6B-7568-0F97-6E38-3722791C9317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D2B84B-DC2F-AF85-F81F-327BE86E4600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9BD6AE-34CF-E1A5-B3A7-31D8598B126E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9ECF35-FA49-CED2-9B1E-83F8B78E69B4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633C33-140E-8621-D0F3-FF4E5B283F4A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5D2CA8-52D4-72C9-4C2C-91599FE4407D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4C7F72-5E09-39E2-BF09-97AC77ACFB49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59B604-53B0-91C7-C760-AFE728B4513D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1AA23A-CB14-67C8-B856-911AE7462900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A914CA-D24A-19F5-07F0-88556417B235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E4AD3D-17AB-B712-A0AF-669038BC048F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22115" y="1122363"/>
            <a:ext cx="10785230" cy="167652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b="1">
                <a:latin typeface="Georgia"/>
                <a:ea typeface="Georgia"/>
                <a:cs typeface="Georgia"/>
              </a:rPr>
              <a:t>Wafer </a:t>
            </a:r>
            <a:r>
              <a:rPr lang="en-US" b="1">
                <a:latin typeface="Georgia"/>
                <a:ea typeface="Georgia"/>
                <a:cs typeface="Georgia"/>
              </a:rPr>
              <a:t>Defect Classification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250345"/>
            <a:ext cx="9144000" cy="618269"/>
          </a:xfrm>
        </p:spPr>
        <p:txBody>
          <a:bodyPr/>
          <a:lstStyle/>
          <a:p>
            <a:pPr>
              <a:defRPr/>
            </a:pPr>
            <a:r>
              <a:rPr lang="en-US">
                <a:latin typeface="Georgia"/>
                <a:ea typeface="Georgia"/>
                <a:cs typeface="Georgia"/>
              </a:rPr>
              <a:t>Praveen Gunturi</a:t>
            </a:r>
            <a:endParaRPr>
              <a:latin typeface="Georgia"/>
              <a:cs typeface="Georgia"/>
            </a:endParaRPr>
          </a:p>
        </p:txBody>
      </p:sp>
      <p:sp>
        <p:nvSpPr>
          <p:cNvPr id="1757855943" name=""/>
          <p:cNvSpPr txBox="1"/>
          <p:nvPr/>
        </p:nvSpPr>
        <p:spPr bwMode="auto">
          <a:xfrm flipH="0" flipV="0">
            <a:off x="1129845" y="4674576"/>
            <a:ext cx="4014855" cy="457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Georgia"/>
                <a:ea typeface="Georgia"/>
                <a:cs typeface="Georgia"/>
              </a:rPr>
              <a:t>I</a:t>
            </a:r>
            <a:r>
              <a:rPr sz="2400">
                <a:latin typeface="Georgia"/>
                <a:ea typeface="Georgia"/>
                <a:cs typeface="Georgia"/>
              </a:rPr>
              <a:t>nstructor: </a:t>
            </a:r>
            <a:r>
              <a:rPr sz="2400" b="0" i="0" u="none">
                <a:solidFill>
                  <a:srgbClr val="1D2125"/>
                </a:solidFill>
                <a:latin typeface="Georgia"/>
                <a:ea typeface="Georgia"/>
                <a:cs typeface="Georgia"/>
              </a:rPr>
              <a:t>Dr.  Masoud Yari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3761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latin typeface="Georgia"/>
                <a:ea typeface="Georgia"/>
                <a:cs typeface="Georgia"/>
              </a:rPr>
              <a:t>Motivation</a:t>
            </a:r>
            <a:endParaRPr b="1">
              <a:latin typeface="Georgia"/>
              <a:cs typeface="Georgia"/>
            </a:endParaRPr>
          </a:p>
        </p:txBody>
      </p:sp>
      <p:sp>
        <p:nvSpPr>
          <p:cNvPr id="288607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Semiconductor manufacturing requires high yield</a:t>
            </a:r>
            <a:endParaRPr sz="2800">
              <a:latin typeface="Georgia"/>
              <a:cs typeface="Georgia"/>
            </a:endParaRPr>
          </a:p>
          <a:p>
            <a:pPr lvl="1">
              <a:defRPr/>
            </a:pPr>
            <a:r>
              <a:rPr sz="2800">
                <a:latin typeface="Georgia"/>
                <a:ea typeface="Georgia"/>
                <a:cs typeface="Georgia"/>
              </a:rPr>
              <a:t>Yield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US" sz="28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# Good Dies in a given </m:t>
                          </m:r>
                          <m:r>
                            <m:rPr>
                              <m:sty m:val="p"/>
                            </m:rPr>
                            <a:rPr lang="en-U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wafer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# Total dies in a given wafer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sz="2800">
              <a:latin typeface="Georgia"/>
              <a:cs typeface="Georgia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Bad dies are considered defects and this reduce production yield</a:t>
            </a:r>
            <a:endParaRPr sz="2800">
              <a:latin typeface="Georgia"/>
              <a:cs typeface="Georgia"/>
            </a:endParaRPr>
          </a:p>
          <a:p>
            <a:pPr lvl="0">
              <a:defRPr/>
            </a:pPr>
            <a:r>
              <a:rPr sz="2800">
                <a:latin typeface="Georgia"/>
                <a:ea typeface="Georgia"/>
                <a:cs typeface="Georgia"/>
              </a:rPr>
              <a:t>The defects on the wafer falls into certain categories</a:t>
            </a:r>
            <a:endParaRPr sz="2800">
              <a:latin typeface="Georgia"/>
              <a:cs typeface="Georgia"/>
            </a:endParaRPr>
          </a:p>
          <a:p>
            <a:pPr lvl="0">
              <a:defRPr/>
            </a:pPr>
            <a:r>
              <a:rPr sz="2800">
                <a:latin typeface="Georgia"/>
                <a:ea typeface="Georgia"/>
                <a:cs typeface="Georgia"/>
              </a:rPr>
              <a:t>Classification of these categories are manual and inconsistent due to subjective</a:t>
            </a:r>
            <a:endParaRPr sz="2800">
              <a:latin typeface="Georgia"/>
              <a:cs typeface="Georgia"/>
            </a:endParaRPr>
          </a:p>
          <a:p>
            <a:pPr lvl="0">
              <a:defRPr/>
            </a:pPr>
            <a:r>
              <a:rPr sz="2800">
                <a:latin typeface="Georgia"/>
                <a:ea typeface="Georgia"/>
                <a:cs typeface="Georgia"/>
              </a:rPr>
              <a:t>Goal: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Automated defect classification using ML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33895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53202" y="9110"/>
            <a:ext cx="11864100" cy="1104581"/>
          </a:xfrm>
        </p:spPr>
        <p:txBody>
          <a:bodyPr/>
          <a:lstStyle/>
          <a:p>
            <a:pPr>
              <a:defRPr/>
            </a:pPr>
            <a:r>
              <a:rPr b="1">
                <a:latin typeface="Georgia"/>
                <a:ea typeface="Georgia"/>
                <a:cs typeface="Georgia"/>
              </a:rPr>
              <a:t>Defect Classification from Wafer maps</a:t>
            </a:r>
            <a:endParaRPr b="1">
              <a:latin typeface="Georgia"/>
              <a:cs typeface="Georgia"/>
            </a:endParaRPr>
          </a:p>
        </p:txBody>
      </p:sp>
      <p:sp>
        <p:nvSpPr>
          <p:cNvPr id="59144972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115" y="1040423"/>
            <a:ext cx="6814038" cy="57150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sz="2800">
                <a:latin typeface="Georgia"/>
                <a:ea typeface="Georgia"/>
                <a:cs typeface="Georgia"/>
              </a:rPr>
              <a:t>Localized (Loc): Appears as clusters and not at center</a:t>
            </a:r>
            <a:endParaRPr sz="2800">
              <a:latin typeface="Georgia"/>
              <a:cs typeface="Georgia"/>
            </a:endParaRPr>
          </a:p>
          <a:p>
            <a:pPr>
              <a:defRPr/>
            </a:pPr>
            <a:r>
              <a:rPr sz="2800">
                <a:latin typeface="Georgia"/>
                <a:ea typeface="Georgia"/>
                <a:cs typeface="Georgia"/>
              </a:rPr>
              <a:t>Edge loc (Edge-Loc): Appears as clusters and at the edge</a:t>
            </a:r>
            <a:endParaRPr sz="2800">
              <a:latin typeface="Georgia"/>
              <a:cs typeface="Georgia"/>
            </a:endParaRPr>
          </a:p>
          <a:p>
            <a:pPr>
              <a:defRPr/>
            </a:pPr>
            <a:r>
              <a:rPr sz="2800">
                <a:latin typeface="Georgia"/>
                <a:ea typeface="Georgia"/>
                <a:cs typeface="Georgia"/>
              </a:rPr>
              <a:t>Center: Apperas as cluster and at the center of the wafer</a:t>
            </a:r>
            <a:endParaRPr sz="2800">
              <a:latin typeface="Georgia"/>
              <a:cs typeface="Georgia"/>
            </a:endParaRPr>
          </a:p>
          <a:p>
            <a:pPr>
              <a:defRPr/>
            </a:pPr>
            <a:r>
              <a:rPr sz="2800">
                <a:latin typeface="Georgia"/>
                <a:ea typeface="Georgia"/>
                <a:cs typeface="Georgia"/>
              </a:rPr>
              <a:t>Edge-Ring: Appears as ring pattern and at the edge of the wafer</a:t>
            </a:r>
            <a:endParaRPr sz="2800">
              <a:latin typeface="Georgia"/>
              <a:cs typeface="Georgia"/>
            </a:endParaRPr>
          </a:p>
          <a:p>
            <a:pPr>
              <a:defRPr/>
            </a:pPr>
            <a:r>
              <a:rPr sz="2800">
                <a:latin typeface="Georgia"/>
                <a:ea typeface="Georgia"/>
                <a:cs typeface="Georgia"/>
              </a:rPr>
              <a:t>Scratch: Appears as a straight line or ring going through wafer and the width is only 1-3 dies</a:t>
            </a:r>
            <a:endParaRPr sz="2800">
              <a:latin typeface="Georgia"/>
              <a:cs typeface="Georgia"/>
            </a:endParaRPr>
          </a:p>
          <a:p>
            <a:pPr>
              <a:defRPr/>
            </a:pPr>
            <a:r>
              <a:rPr sz="2800">
                <a:latin typeface="Georgia"/>
                <a:ea typeface="Georgia"/>
                <a:cs typeface="Georgia"/>
              </a:rPr>
              <a:t>Random: No specific pattern and defects are scattered across all dies</a:t>
            </a:r>
            <a:endParaRPr sz="2800">
              <a:latin typeface="Georgia"/>
              <a:cs typeface="Georgia"/>
            </a:endParaRPr>
          </a:p>
          <a:p>
            <a:pPr>
              <a:defRPr/>
            </a:pPr>
            <a:r>
              <a:rPr sz="2800">
                <a:latin typeface="Georgia"/>
                <a:ea typeface="Georgia"/>
                <a:cs typeface="Georgia"/>
              </a:rPr>
              <a:t>Near-full: Most of the wafer have defects</a:t>
            </a:r>
            <a:endParaRPr sz="2800">
              <a:latin typeface="Georgia"/>
              <a:cs typeface="Georgia"/>
            </a:endParaRPr>
          </a:p>
          <a:p>
            <a:pPr>
              <a:defRPr/>
            </a:pPr>
            <a:r>
              <a:rPr sz="2800">
                <a:latin typeface="Georgia"/>
                <a:ea typeface="Georgia"/>
                <a:cs typeface="Georgia"/>
              </a:rPr>
              <a:t>Donut: Appears as ring at the edge and cluster at the center </a:t>
            </a:r>
            <a:endParaRPr sz="2800">
              <a:latin typeface="Georgia"/>
              <a:cs typeface="Georgia"/>
            </a:endParaRPr>
          </a:p>
        </p:txBody>
      </p:sp>
      <p:pic>
        <p:nvPicPr>
          <p:cNvPr id="21349800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21590" y="1274884"/>
            <a:ext cx="5295712" cy="5280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218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latin typeface="Georgia"/>
                <a:ea typeface="Georgia"/>
                <a:cs typeface="Georgia"/>
              </a:rPr>
              <a:t>Dataset</a:t>
            </a:r>
            <a:endParaRPr b="1">
              <a:latin typeface="Georgia"/>
              <a:cs typeface="Georgia"/>
            </a:endParaRPr>
          </a:p>
        </p:txBody>
      </p:sp>
      <p:sp>
        <p:nvSpPr>
          <p:cNvPr id="2068993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400">
                <a:latin typeface="Georgia"/>
                <a:ea typeface="Georgia"/>
                <a:cs typeface="Georgia"/>
              </a:rPr>
              <a:t>Contains</a:t>
            </a:r>
            <a:endParaRPr sz="2400">
              <a:latin typeface="Georgia"/>
              <a:cs typeface="Georgia"/>
            </a:endParaRPr>
          </a:p>
          <a:p>
            <a:pPr lvl="1">
              <a:defRPr/>
            </a:pPr>
            <a:r>
              <a:rPr sz="2400">
                <a:latin typeface="Georgia"/>
                <a:ea typeface="Georgia"/>
                <a:cs typeface="Georgia"/>
              </a:rPr>
              <a:t>Wafer maps</a:t>
            </a:r>
            <a:endParaRPr sz="2400">
              <a:latin typeface="Georgia"/>
              <a:cs typeface="Georgia"/>
            </a:endParaRPr>
          </a:p>
          <a:p>
            <a:pPr lvl="1">
              <a:defRPr/>
            </a:pPr>
            <a:r>
              <a:rPr sz="2400">
                <a:latin typeface="Georgia"/>
                <a:ea typeface="Georgia"/>
                <a:cs typeface="Georgia"/>
              </a:rPr>
              <a:t>Defect labels</a:t>
            </a:r>
            <a:endParaRPr sz="2400">
              <a:latin typeface="Georgia"/>
              <a:cs typeface="Georgia"/>
            </a:endParaRPr>
          </a:p>
          <a:p>
            <a:pPr lvl="1">
              <a:defRPr/>
            </a:pPr>
            <a:r>
              <a:rPr sz="2400">
                <a:latin typeface="Georgia"/>
                <a:ea typeface="Georgia"/>
                <a:cs typeface="Georgia"/>
              </a:rPr>
              <a:t>Die size information</a:t>
            </a:r>
            <a:endParaRPr sz="2400">
              <a:latin typeface="Georgia"/>
              <a:cs typeface="Georgia"/>
            </a:endParaRPr>
          </a:p>
          <a:p>
            <a:pPr lvl="0">
              <a:defRPr/>
            </a:pPr>
            <a:r>
              <a:rPr sz="2400">
                <a:latin typeface="Georgia"/>
                <a:ea typeface="Georgia"/>
                <a:cs typeface="Georgia"/>
              </a:rPr>
              <a:t>Filtered data:</a:t>
            </a:r>
            <a:endParaRPr sz="2400">
              <a:latin typeface="Georgia"/>
              <a:cs typeface="Georgia"/>
            </a:endParaRPr>
          </a:p>
          <a:p>
            <a:pPr lvl="1">
              <a:defRPr/>
            </a:pPr>
            <a:r>
              <a:rPr sz="2400">
                <a:latin typeface="Georgia"/>
                <a:ea typeface="Georgia"/>
                <a:cs typeface="Georgia"/>
              </a:rPr>
              <a:t>Remove missing labels</a:t>
            </a:r>
            <a:endParaRPr sz="2400">
              <a:latin typeface="Georgia"/>
              <a:cs typeface="Georgia"/>
            </a:endParaRPr>
          </a:p>
          <a:p>
            <a:pPr lvl="1">
              <a:defRPr/>
            </a:pPr>
            <a:r>
              <a:rPr sz="2400">
                <a:latin typeface="Georgia"/>
                <a:ea typeface="Georgia"/>
                <a:cs typeface="Georgia"/>
              </a:rPr>
              <a:t>Remove Defect category with “none” class</a:t>
            </a:r>
            <a:endParaRPr sz="2400">
              <a:latin typeface="Georgia"/>
              <a:cs typeface="Georgia"/>
            </a:endParaRPr>
          </a:p>
          <a:p>
            <a:pPr lvl="1">
              <a:defRPr/>
            </a:pPr>
            <a:r>
              <a:rPr sz="2400">
                <a:latin typeface="Georgia"/>
                <a:ea typeface="Georgia"/>
                <a:cs typeface="Georgia"/>
              </a:rPr>
              <a:t>Filter by die size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1145901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5961" y="1553307"/>
            <a:ext cx="7504198" cy="21248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78145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52046" y="205153"/>
            <a:ext cx="10515600" cy="855418"/>
          </a:xfrm>
        </p:spPr>
        <p:txBody>
          <a:bodyPr/>
          <a:lstStyle/>
          <a:p>
            <a:pPr>
              <a:defRPr/>
            </a:pPr>
            <a:r>
              <a:rPr b="1">
                <a:latin typeface="Georgia"/>
                <a:ea typeface="Georgia"/>
                <a:cs typeface="Georgia"/>
              </a:rPr>
              <a:t>Feature Extraction</a:t>
            </a:r>
            <a:endParaRPr b="1">
              <a:latin typeface="Georgia"/>
              <a:cs typeface="Georgia"/>
            </a:endParaRPr>
          </a:p>
        </p:txBody>
      </p:sp>
      <p:graphicFrame>
        <p:nvGraphicFramePr>
          <p:cNvPr id="228365422" name=""/>
          <p:cNvGraphicFramePr>
            <a:graphicFrameLocks xmlns:a="http://schemas.openxmlformats.org/drawingml/2006/main"/>
          </p:cNvGraphicFramePr>
          <p:nvPr/>
        </p:nvGraphicFramePr>
        <p:xfrm>
          <a:off x="310661" y="1060572"/>
          <a:ext cx="9013824" cy="5103495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19224"/>
                <a:gridCol w="723899"/>
                <a:gridCol w="723899"/>
                <a:gridCol w="1171575"/>
                <a:gridCol w="1133474"/>
                <a:gridCol w="981074"/>
                <a:gridCol w="962024"/>
                <a:gridCol w="752474"/>
                <a:gridCol w="1133474"/>
              </a:tblGrid>
              <a:tr h="80004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Feature</a:t>
                      </a:r>
                      <a:endParaRPr/>
                    </a:p>
                  </a:txBody>
                  <a:tcPr marL="0" marR="0" marT="0" marB="0" vert="vert27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Center</a:t>
                      </a:r>
                      <a:endParaRPr/>
                    </a:p>
                  </a:txBody>
                  <a:tcPr marL="0" marR="0" marT="0" marB="0" vert="vert27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Donut</a:t>
                      </a:r>
                      <a:endParaRPr/>
                    </a:p>
                  </a:txBody>
                  <a:tcPr marL="0" marR="0" marT="0" marB="0" vert="vert27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Edge-Ring</a:t>
                      </a:r>
                      <a:endParaRPr/>
                    </a:p>
                  </a:txBody>
                  <a:tcPr marL="0" marR="0" marT="0" marB="0" vert="vert27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Edge-Loc</a:t>
                      </a:r>
                      <a:endParaRPr/>
                    </a:p>
                  </a:txBody>
                  <a:tcPr marL="0" marR="0" marT="0" marB="0" vert="vert27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Loc</a:t>
                      </a:r>
                      <a:endParaRPr/>
                    </a:p>
                  </a:txBody>
                  <a:tcPr marL="0" marR="0" marT="0" marB="0" vert="vert27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Scratch</a:t>
                      </a:r>
                      <a:endParaRPr/>
                    </a:p>
                  </a:txBody>
                  <a:tcPr marL="0" marR="0" marT="0" marB="0" vert="vert27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Random</a:t>
                      </a:r>
                      <a:endParaRPr/>
                    </a:p>
                  </a:txBody>
                  <a:tcPr marL="0" marR="0" marT="0" marB="0" vert="vert27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Near-Full</a:t>
                      </a:r>
                      <a:endParaRPr/>
                    </a:p>
                  </a:txBody>
                  <a:tcPr marL="0" marR="0" marT="0" marB="0" vert="vert27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638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defect_density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521816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centroid_x / centroid_y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Center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Center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Edge distributed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Near edge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Any location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Line direction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Random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Whole wafer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radial_mean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Var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Var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radial_std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radial_skew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Var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Var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Var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edge_ratio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q1, q2, q3, q4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Balanced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Balanced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Balanced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One quadrant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One quadrant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One or two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Balanced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Balanced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spread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ring_score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center_ratio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angular_variance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05663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cluster_density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H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</a:t>
                      </a:r>
                      <a:endParaRPr/>
                    </a:p>
                  </a:txBody>
                  <a:tcPr marL="0" marR="0" marT="0" marB="0"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88911659" name=""/>
          <p:cNvSpPr txBox="1"/>
          <p:nvPr/>
        </p:nvSpPr>
        <p:spPr bwMode="auto">
          <a:xfrm flipH="0" flipV="0">
            <a:off x="310661" y="5937152"/>
            <a:ext cx="9921742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Grid coordinates are normalized relative to wafer center</a:t>
            </a:r>
            <a:endParaRPr sz="2400" b="0" i="0" u="none">
              <a:solidFill>
                <a:srgbClr val="000000"/>
              </a:solidFill>
              <a:latin typeface="Georgia"/>
              <a:ea typeface="Georgia"/>
              <a:cs typeface="Georgia"/>
            </a:endParaRPr>
          </a:p>
          <a:p>
            <a:pPr marL="283879" indent="-283879" algn="l"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This allows spatial features to be computed consistently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1529135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24486" y="3091961"/>
            <a:ext cx="2886667" cy="1732000"/>
          </a:xfrm>
          <a:prstGeom prst="rect">
            <a:avLst/>
          </a:prstGeom>
        </p:spPr>
      </p:pic>
      <p:sp>
        <p:nvSpPr>
          <p:cNvPr id="74785715" name=""/>
          <p:cNvSpPr txBox="1"/>
          <p:nvPr/>
        </p:nvSpPr>
        <p:spPr bwMode="auto">
          <a:xfrm flipH="0" flipV="0">
            <a:off x="9804922" y="2710961"/>
            <a:ext cx="192431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Example Feature</a:t>
            </a:r>
            <a:endParaRPr/>
          </a:p>
        </p:txBody>
      </p:sp>
      <p:sp>
        <p:nvSpPr>
          <p:cNvPr id="15713915" name=""/>
          <p:cNvSpPr txBox="1"/>
          <p:nvPr/>
        </p:nvSpPr>
        <p:spPr bwMode="auto">
          <a:xfrm flipH="0" flipV="0">
            <a:off x="9664245" y="5105399"/>
            <a:ext cx="2471358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Some more feature criteria are in Appendix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95783" name="Title 1"/>
          <p:cNvSpPr>
            <a:spLocks noGrp="1"/>
          </p:cNvSpPr>
          <p:nvPr>
            <p:ph type="title"/>
          </p:nvPr>
        </p:nvSpPr>
        <p:spPr bwMode="auto">
          <a:xfrm>
            <a:off x="618392" y="203932"/>
            <a:ext cx="10515600" cy="1325562"/>
          </a:xfrm>
        </p:spPr>
        <p:txBody>
          <a:bodyPr/>
          <a:lstStyle/>
          <a:p>
            <a:pPr>
              <a:defRPr/>
            </a:pPr>
            <a:r>
              <a:rPr b="1">
                <a:latin typeface="Georgia"/>
                <a:ea typeface="Georgia"/>
                <a:cs typeface="Georgia"/>
              </a:rPr>
              <a:t>Baseline Model</a:t>
            </a:r>
            <a:endParaRPr b="1">
              <a:latin typeface="Georgia"/>
              <a:cs typeface="Georgia"/>
            </a:endParaRPr>
          </a:p>
        </p:txBody>
      </p:sp>
      <p:sp>
        <p:nvSpPr>
          <p:cNvPr id="13065341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600" b="0">
                <a:latin typeface="Georgia"/>
                <a:ea typeface="Georgia"/>
                <a:cs typeface="Georgia"/>
              </a:rPr>
              <a:t>Extract features shown in Feature Extraction Slide</a:t>
            </a:r>
            <a:endParaRPr sz="2600" b="0">
              <a:latin typeface="Georgia"/>
              <a:cs typeface="Georgia"/>
            </a:endParaRPr>
          </a:p>
          <a:p>
            <a:pPr>
              <a:defRPr/>
            </a:pPr>
            <a:r>
              <a:rPr sz="2600" b="0">
                <a:latin typeface="Georgia"/>
                <a:ea typeface="Georgia"/>
                <a:cs typeface="Georgia"/>
              </a:rPr>
              <a:t>Train/test split (80/20)</a:t>
            </a:r>
            <a:endParaRPr sz="2600" b="0">
              <a:latin typeface="Georgia"/>
              <a:cs typeface="Georgia"/>
            </a:endParaRPr>
          </a:p>
          <a:p>
            <a:pPr>
              <a:defRPr/>
            </a:pPr>
            <a:r>
              <a:rPr sz="2600" b="0">
                <a:latin typeface="Georgia"/>
                <a:ea typeface="Georgia"/>
                <a:cs typeface="Georgia"/>
              </a:rPr>
              <a:t>Train classifier</a:t>
            </a:r>
            <a:endParaRPr sz="2600" b="0">
              <a:latin typeface="Georgia"/>
              <a:cs typeface="Georgia"/>
            </a:endParaRPr>
          </a:p>
          <a:p>
            <a:pPr>
              <a:defRPr/>
            </a:pPr>
            <a:r>
              <a:rPr sz="2600" b="0">
                <a:latin typeface="Georgia"/>
                <a:ea typeface="Georgia"/>
                <a:cs typeface="Georgia"/>
              </a:rPr>
              <a:t>Evaluate performance metrics:</a:t>
            </a:r>
            <a:endParaRPr sz="2600" b="0">
              <a:latin typeface="Georgia"/>
              <a:cs typeface="Georgia"/>
            </a:endParaRPr>
          </a:p>
          <a:p>
            <a:pPr lvl="1">
              <a:defRPr/>
            </a:pPr>
            <a:r>
              <a:rPr sz="2600" b="0">
                <a:latin typeface="Georgia"/>
                <a:ea typeface="Georgia"/>
                <a:cs typeface="Georgia"/>
              </a:rPr>
              <a:t>Accuracy</a:t>
            </a:r>
            <a:endParaRPr sz="2600" b="0">
              <a:latin typeface="Georgia"/>
              <a:cs typeface="Georgia"/>
            </a:endParaRPr>
          </a:p>
          <a:p>
            <a:pPr lvl="1">
              <a:defRPr/>
            </a:pPr>
            <a:r>
              <a:rPr sz="2600" b="0">
                <a:latin typeface="Georgia"/>
                <a:ea typeface="Georgia"/>
                <a:cs typeface="Georgia"/>
              </a:rPr>
              <a:t>Balanced Accuracy</a:t>
            </a:r>
            <a:endParaRPr sz="2600" b="0">
              <a:latin typeface="Georgia"/>
              <a:cs typeface="Georgia"/>
            </a:endParaRPr>
          </a:p>
          <a:p>
            <a:pPr lvl="1">
              <a:defRPr/>
            </a:pPr>
            <a:r>
              <a:rPr sz="2600" b="0">
                <a:latin typeface="Georgia"/>
                <a:ea typeface="Georgia"/>
                <a:cs typeface="Georgia"/>
              </a:rPr>
              <a:t>Recall per class</a:t>
            </a:r>
            <a:endParaRPr sz="2600" b="0">
              <a:latin typeface="Georgia"/>
              <a:cs typeface="Georgia"/>
            </a:endParaRPr>
          </a:p>
          <a:p>
            <a:pPr lvl="1">
              <a:defRPr/>
            </a:pPr>
            <a:r>
              <a:rPr sz="2600" b="0">
                <a:latin typeface="Georgia"/>
                <a:ea typeface="Georgia"/>
                <a:cs typeface="Georgia"/>
              </a:rPr>
              <a:t>Confusion matrix</a:t>
            </a:r>
            <a:endParaRPr sz="2600" b="0">
              <a:latin typeface="Georgia"/>
              <a:cs typeface="Georgi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62756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83930" y="-1221"/>
            <a:ext cx="10515600" cy="1041644"/>
          </a:xfrm>
        </p:spPr>
        <p:txBody>
          <a:bodyPr/>
          <a:lstStyle/>
          <a:p>
            <a:pPr>
              <a:defRPr/>
            </a:pPr>
            <a:r>
              <a:rPr b="1">
                <a:latin typeface="Georgia"/>
                <a:ea typeface="Georgia"/>
                <a:cs typeface="Georgia"/>
              </a:rPr>
              <a:t>Preliminary results</a:t>
            </a:r>
            <a:endParaRPr b="1">
              <a:latin typeface="Georgia"/>
              <a:cs typeface="Georgia"/>
            </a:endParaRPr>
          </a:p>
        </p:txBody>
      </p:sp>
      <p:pic>
        <p:nvPicPr>
          <p:cNvPr id="4665104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2776" y="981807"/>
            <a:ext cx="8043530" cy="58187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669796" name="Title 1"/>
          <p:cNvSpPr>
            <a:spLocks noGrp="1"/>
          </p:cNvSpPr>
          <p:nvPr>
            <p:ph type="title"/>
          </p:nvPr>
        </p:nvSpPr>
        <p:spPr bwMode="auto">
          <a:xfrm>
            <a:off x="603738" y="145317"/>
            <a:ext cx="10515600" cy="1325562"/>
          </a:xfrm>
        </p:spPr>
        <p:txBody>
          <a:bodyPr/>
          <a:lstStyle/>
          <a:p>
            <a:pPr>
              <a:defRPr/>
            </a:pPr>
            <a:r>
              <a:rPr b="1">
                <a:latin typeface="Georgia"/>
                <a:ea typeface="Georgia"/>
                <a:cs typeface="Georgia"/>
              </a:rPr>
              <a:t>Confusion Matrix</a:t>
            </a:r>
            <a:endParaRPr b="1">
              <a:latin typeface="Georgia"/>
              <a:cs typeface="Georgia"/>
            </a:endParaRPr>
          </a:p>
        </p:txBody>
      </p:sp>
      <p:pic>
        <p:nvPicPr>
          <p:cNvPr id="11233132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42845" y="1142999"/>
            <a:ext cx="6610349" cy="5353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623922" name="Title 1"/>
          <p:cNvSpPr>
            <a:spLocks noGrp="1"/>
          </p:cNvSpPr>
          <p:nvPr>
            <p:ph type="title"/>
          </p:nvPr>
        </p:nvSpPr>
        <p:spPr bwMode="auto">
          <a:xfrm>
            <a:off x="779584" y="183782"/>
            <a:ext cx="10515600" cy="1325562"/>
          </a:xfrm>
        </p:spPr>
        <p:txBody>
          <a:bodyPr/>
          <a:lstStyle/>
          <a:p>
            <a:pPr>
              <a:defRPr/>
            </a:pPr>
            <a:r>
              <a:rPr b="1">
                <a:latin typeface="Georgia"/>
                <a:ea typeface="Georgia"/>
                <a:cs typeface="Georgia"/>
              </a:rPr>
              <a:t>Milestone2</a:t>
            </a:r>
            <a:endParaRPr b="1">
              <a:latin typeface="Georgia"/>
              <a:cs typeface="Georgia"/>
            </a:endParaRPr>
          </a:p>
        </p:txBody>
      </p:sp>
      <p:sp>
        <p:nvSpPr>
          <p:cNvPr id="158286468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509346"/>
            <a:ext cx="10515600" cy="51581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Optimize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RandomForestClassifier</a:t>
            </a:r>
            <a:endParaRPr/>
          </a:p>
          <a:p>
            <a:pPr>
              <a:defRPr/>
            </a:pPr>
            <a:r>
              <a:rPr/>
              <a:t>Implement:</a:t>
            </a:r>
            <a:endParaRPr/>
          </a:p>
          <a:p>
            <a:pPr lvl="1">
              <a:defRPr/>
            </a:pPr>
            <a:r>
              <a:rPr/>
              <a:t>Logistic Regression</a:t>
            </a:r>
            <a:endParaRPr/>
          </a:p>
          <a:p>
            <a:pPr lvl="1">
              <a:defRPr/>
            </a:pPr>
            <a:r>
              <a:rPr/>
              <a:t>LDA</a:t>
            </a:r>
            <a:endParaRPr/>
          </a:p>
          <a:p>
            <a:pPr lvl="1">
              <a:defRPr/>
            </a:pPr>
            <a:r>
              <a:rPr/>
              <a:t>QDA</a:t>
            </a:r>
            <a:endParaRPr/>
          </a:p>
          <a:p>
            <a:pPr lvl="1">
              <a:defRPr/>
            </a:pPr>
            <a:r>
              <a:rPr/>
              <a:t>SVM</a:t>
            </a:r>
            <a:endParaRPr/>
          </a:p>
          <a:p>
            <a:pPr lvl="0">
              <a:defRPr/>
            </a:pPr>
            <a:r>
              <a:rPr/>
              <a:t>Bias-Variance Trade-off</a:t>
            </a:r>
            <a:endParaRPr/>
          </a:p>
          <a:p>
            <a:pPr lvl="1">
              <a:defRPr/>
            </a:pPr>
            <a:r>
              <a:rPr/>
              <a:t>Etrain vs Complexity</a:t>
            </a:r>
            <a:endParaRPr/>
          </a:p>
          <a:p>
            <a:pPr lvl="1">
              <a:defRPr/>
            </a:pPr>
            <a:r>
              <a:rPr/>
              <a:t>Etest vs Complexity</a:t>
            </a:r>
            <a:endParaRPr/>
          </a:p>
          <a:p>
            <a:pPr lvl="0">
              <a:defRPr/>
            </a:pPr>
            <a:r>
              <a:rPr/>
              <a:t>Future Work:</a:t>
            </a:r>
            <a:endParaRPr/>
          </a:p>
          <a:p>
            <a:pPr lvl="1">
              <a:defRPr/>
            </a:pPr>
            <a:r>
              <a:rPr/>
              <a:t>After optimizing, feed this data to Fab to verify any process issues, tool issues</a:t>
            </a:r>
            <a:endParaRPr/>
          </a:p>
          <a:p>
            <a:pPr lvl="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840057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b="1">
                <a:latin typeface="Georgia"/>
                <a:ea typeface="Georgia"/>
                <a:cs typeface="Georgia"/>
              </a:rPr>
              <a:t>Appendix: Feature parameters criteria</a:t>
            </a:r>
            <a:endParaRPr b="1">
              <a:latin typeface="Georgia"/>
              <a:cs typeface="Georgia"/>
            </a:endParaRPr>
          </a:p>
        </p:txBody>
      </p:sp>
      <p:sp>
        <p:nvSpPr>
          <p:cNvPr id="195981876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0487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Feature parameters criteria</a:t>
            </a:r>
            <a:r>
              <a:rPr/>
              <a:t> </a:t>
            </a:r>
            <a:endParaRPr/>
          </a:p>
        </p:txBody>
      </p:sp>
      <p:sp>
        <p:nvSpPr>
          <p:cNvPr id="135587695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/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Defect Density=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US" sz="20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# Bad</m:t>
                          </m:r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Dies in a given </m:t>
                          </m:r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wafer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# Total dies in a given wafer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endParaRPr sz="2000"/>
          </a:p>
          <a:p>
            <a:pPr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Centroid_x, Centroid_y</a:t>
            </a:r>
            <a:endParaRPr sz="2000"/>
          </a:p>
          <a:p>
            <a:pPr marL="0" indent="0">
              <a:buFont typeface="Arial"/>
              <a:buNone/>
              <a:defRPr/>
            </a:pPr>
            <a:endParaRPr sz="2000"/>
          </a:p>
          <a:p>
            <a:pPr>
              <a:defRPr/>
            </a:pPr>
            <a:endParaRPr/>
          </a:p>
        </p:txBody>
      </p:sp>
      <p:sp>
        <p:nvSpPr>
          <p:cNvPr id="201437444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Radial Mean</a:t>
            </a:r>
            <a:endParaRPr lang="en-US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800"/>
          </a:p>
          <a:p>
            <a:pPr>
              <a:defRPr/>
            </a:pPr>
            <a:endParaRPr sz="2800"/>
          </a:p>
          <a:p>
            <a:pPr>
              <a:defRPr/>
            </a:pPr>
            <a:endParaRPr sz="2800"/>
          </a:p>
          <a:p>
            <a:pPr>
              <a:defRPr/>
            </a:pP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Radial_std</a:t>
            </a:r>
            <a:endParaRPr sz="2800"/>
          </a:p>
          <a:p>
            <a:pPr marL="0" indent="0">
              <a:buFont typeface="Arial"/>
              <a:buNone/>
              <a:defRPr/>
            </a:pPr>
            <a:endParaRPr sz="2800"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graphicFrame>
        <p:nvGraphicFramePr>
          <p:cNvPr id="950621709" name=""/>
          <p:cNvGraphicFramePr>
            <a:graphicFrameLocks xmlns:a="http://schemas.openxmlformats.org/drawingml/2006/main"/>
          </p:cNvGraphicFramePr>
          <p:nvPr/>
        </p:nvGraphicFramePr>
        <p:xfrm>
          <a:off x="1172307" y="2344824"/>
          <a:ext cx="4254010" cy="1928099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1303362"/>
                <a:gridCol w="2931598"/>
              </a:tblGrid>
              <a:tr h="40834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Criteria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Comment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3070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&lt; 0.05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few defects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0.05 – 0.20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scattered defects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02-0.5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Moderate defects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45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&gt;0.5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near-full wafer failure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07794925" name=""/>
          <p:cNvGraphicFramePr>
            <a:graphicFrameLocks xmlns:a="http://schemas.openxmlformats.org/drawingml/2006/main"/>
          </p:cNvGraphicFramePr>
          <p:nvPr/>
        </p:nvGraphicFramePr>
        <p:xfrm>
          <a:off x="1172307" y="4944416"/>
          <a:ext cx="4254010" cy="1478098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1303362"/>
                <a:gridCol w="2931597"/>
              </a:tblGrid>
              <a:tr h="40834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Criteria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Comment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3070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&lt; 0.2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Defects near Center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0.2-0.6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Mild wafer region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&gt; 0.6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Near wafer edge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010314985" name=""/>
          <p:cNvGraphicFramePr>
            <a:graphicFrameLocks xmlns:a="http://schemas.openxmlformats.org/drawingml/2006/main"/>
          </p:cNvGraphicFramePr>
          <p:nvPr/>
        </p:nvGraphicFramePr>
        <p:xfrm>
          <a:off x="6635995" y="2447401"/>
          <a:ext cx="4254010" cy="1478098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1303362"/>
                <a:gridCol w="2931597"/>
              </a:tblGrid>
              <a:tr h="40834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Criteria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Comment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3070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&lt; 0.3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Central defects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0.3-0.6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Mild wafer defects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&gt; 0.6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Edge defects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68266714" name=""/>
          <p:cNvGraphicFramePr>
            <a:graphicFrameLocks xmlns:a="http://schemas.openxmlformats.org/drawingml/2006/main"/>
          </p:cNvGraphicFramePr>
          <p:nvPr/>
        </p:nvGraphicFramePr>
        <p:xfrm>
          <a:off x="6635995" y="4783223"/>
          <a:ext cx="4254010" cy="1478098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1303362"/>
                <a:gridCol w="2931597"/>
              </a:tblGrid>
              <a:tr h="40834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Criteria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Comment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3070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&lt; 0.05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Ring like pattern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0.05-0.2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Cluster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&gt; 0.2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Scattered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0825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Feature parameters criteria</a:t>
            </a:r>
            <a:r>
              <a:rPr/>
              <a:t> (Cont)</a:t>
            </a:r>
            <a:endParaRPr/>
          </a:p>
        </p:txBody>
      </p:sp>
      <p:sp>
        <p:nvSpPr>
          <p:cNvPr id="5466709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/>
          <a:p>
            <a:pPr>
              <a:defRPr/>
            </a:pPr>
            <a:r>
              <a:rPr/>
              <a:t>Radial Skew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/>
              <a:t>Edge Ratio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sp>
        <p:nvSpPr>
          <p:cNvPr id="16060360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>
              <a:defRPr/>
            </a:pPr>
            <a:r>
              <a:rPr/>
              <a:t>Q1, Q2, Q3, Q4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Spread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graphicFrame>
        <p:nvGraphicFramePr>
          <p:cNvPr id="735073837" name=""/>
          <p:cNvGraphicFramePr>
            <a:graphicFrameLocks xmlns:a="http://schemas.openxmlformats.org/drawingml/2006/main"/>
          </p:cNvGraphicFramePr>
          <p:nvPr/>
        </p:nvGraphicFramePr>
        <p:xfrm>
          <a:off x="996460" y="2344824"/>
          <a:ext cx="4254010" cy="1928098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1303362"/>
                <a:gridCol w="2931597"/>
              </a:tblGrid>
              <a:tr h="40834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Criteria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Comment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3070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&gt; 0.5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Defects skewed towards edge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-0.5 to 0.5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Symmetric distribution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&lt; -0.5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Defects concentrated at the center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916407105" name=""/>
          <p:cNvGraphicFramePr>
            <a:graphicFrameLocks xmlns:a="http://schemas.openxmlformats.org/drawingml/2006/main"/>
          </p:cNvGraphicFramePr>
          <p:nvPr/>
        </p:nvGraphicFramePr>
        <p:xfrm>
          <a:off x="914398" y="4346192"/>
          <a:ext cx="4254010" cy="1478098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1303362"/>
                <a:gridCol w="2931597"/>
              </a:tblGrid>
              <a:tr h="40834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Criteria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Comment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3070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&lt; 0.2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Few edge defects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0.2 to 0.5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Mixed distribution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&gt; 0.5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Edge defects dominant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81241093" name=""/>
          <p:cNvGraphicFramePr>
            <a:graphicFrameLocks xmlns:a="http://schemas.openxmlformats.org/drawingml/2006/main"/>
          </p:cNvGraphicFramePr>
          <p:nvPr/>
        </p:nvGraphicFramePr>
        <p:xfrm>
          <a:off x="6438898" y="2344824"/>
          <a:ext cx="4254010" cy="1478098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2160000"/>
                <a:gridCol w="3341090"/>
              </a:tblGrid>
              <a:tr h="40834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Criteria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Comment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3070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0.25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Uniform distribution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One quadrant &gt; 0.5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Localized defect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Two quadrant dominant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Scratched pattern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52863631" name=""/>
          <p:cNvGraphicFramePr>
            <a:graphicFrameLocks xmlns:a="http://schemas.openxmlformats.org/drawingml/2006/main"/>
          </p:cNvGraphicFramePr>
          <p:nvPr/>
        </p:nvGraphicFramePr>
        <p:xfrm>
          <a:off x="6438898" y="4783223"/>
          <a:ext cx="5520138" cy="1478098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2160000"/>
                <a:gridCol w="3341089"/>
              </a:tblGrid>
              <a:tr h="408347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Criteria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Comment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30703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0.25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Uniform distribution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One quadrant &gt; 0.5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</a:rPr>
                        <a:t>Localized defect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Two quadrant dominant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>
                          <a:latin typeface="Georgia"/>
                          <a:ea typeface="Georgia"/>
                          <a:cs typeface="Georgia"/>
                        </a:rPr>
                        <a:t>Scratched pattern</a:t>
                      </a:r>
                      <a:endParaRPr sz="1400">
                        <a:latin typeface="Georgia"/>
                        <a:cs typeface="Georgia"/>
                      </a:endParaRPr>
                    </a:p>
                  </a:txBody>
                  <a:tcPr marL="9524" marR="9524" marT="9524" marB="9524" anchor="ctr">
                    <a:lnL w="19048" algn="ctr">
                      <a:solidFill>
                        <a:schemeClr val="tx1"/>
                      </a:solidFill>
                    </a:lnL>
                    <a:lnR w="19048" algn="ctr">
                      <a:solidFill>
                        <a:schemeClr val="tx1"/>
                      </a:solidFill>
                    </a:lnR>
                    <a:lnT w="19048" algn="ctr">
                      <a:solidFill>
                        <a:schemeClr val="tx1"/>
                      </a:solidFill>
                    </a:lnT>
                    <a:lnB w="19048" algn="ctr">
                      <a:solidFill>
                        <a:schemeClr val="tx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ONLYOFFICE/8.2.2.22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2026-03-16T02:53:01Z</dcterms:modified>
</cp:coreProperties>
</file>